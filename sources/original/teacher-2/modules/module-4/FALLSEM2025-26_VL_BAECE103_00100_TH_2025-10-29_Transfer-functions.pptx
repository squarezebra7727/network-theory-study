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0" r:id="rId4"/>
    <p:sldId id="311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1" r:id="rId14"/>
    <p:sldId id="32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C389-AFA7-4435-9547-72101017C665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EAA8C-CCF0-45FC-9666-6B1192D24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532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C389-AFA7-4435-9547-72101017C665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EAA8C-CCF0-45FC-9666-6B1192D24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167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C389-AFA7-4435-9547-72101017C665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EAA8C-CCF0-45FC-9666-6B1192D24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655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C389-AFA7-4435-9547-72101017C665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EAA8C-CCF0-45FC-9666-6B1192D24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932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C389-AFA7-4435-9547-72101017C665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EAA8C-CCF0-45FC-9666-6B1192D24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996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C389-AFA7-4435-9547-72101017C665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EAA8C-CCF0-45FC-9666-6B1192D24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219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C389-AFA7-4435-9547-72101017C665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EAA8C-CCF0-45FC-9666-6B1192D24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557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C389-AFA7-4435-9547-72101017C665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EAA8C-CCF0-45FC-9666-6B1192D24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211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C389-AFA7-4435-9547-72101017C665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EAA8C-CCF0-45FC-9666-6B1192D24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866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C389-AFA7-4435-9547-72101017C665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EAA8C-CCF0-45FC-9666-6B1192D24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06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C389-AFA7-4435-9547-72101017C665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EAA8C-CCF0-45FC-9666-6B1192D24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323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1CC389-AFA7-4435-9547-72101017C665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EAA8C-CCF0-45FC-9666-6B1192D24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224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2575" y="1314450"/>
            <a:ext cx="9144000" cy="2700338"/>
          </a:xfrm>
        </p:spPr>
        <p:txBody>
          <a:bodyPr>
            <a:normAutofit fontScale="90000"/>
          </a:bodyPr>
          <a:lstStyle/>
          <a:p>
            <a:r>
              <a:rPr lang="en-IN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/>
            </a:r>
            <a:br>
              <a:rPr lang="en-IN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</a:br>
            <a:r>
              <a:rPr lang="en-IN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/>
            </a:r>
            <a:br>
              <a:rPr lang="en-IN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</a:br>
            <a:r>
              <a:rPr lang="en-IN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/>
            </a:r>
            <a:br>
              <a:rPr lang="en-IN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</a:br>
            <a:r>
              <a:rPr lang="en-IN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/>
            </a:r>
            <a:br>
              <a:rPr lang="en-IN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</a:br>
            <a:r>
              <a:rPr lang="en-IN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/>
            </a:r>
            <a:br>
              <a:rPr lang="en-IN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Module </a:t>
            </a:r>
            <a:r>
              <a:rPr lang="en-IN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- 4</a:t>
            </a:r>
            <a:r>
              <a:rPr lang="en-IN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/>
            </a:r>
            <a:br>
              <a:rPr lang="en-IN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</a:br>
            <a:r>
              <a:rPr lang="en-IN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Transfer Functions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1988" y="4325369"/>
            <a:ext cx="9144000" cy="1655762"/>
          </a:xfrm>
        </p:spPr>
        <p:txBody>
          <a:bodyPr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IN" b="1" dirty="0" err="1" smtClean="0">
                <a:ln/>
                <a:solidFill>
                  <a:srgbClr val="FF0000"/>
                </a:solidFill>
              </a:rPr>
              <a:t>Dr.</a:t>
            </a:r>
            <a:r>
              <a:rPr lang="en-IN" b="1" dirty="0" smtClean="0">
                <a:ln/>
                <a:solidFill>
                  <a:srgbClr val="FF0000"/>
                </a:solidFill>
              </a:rPr>
              <a:t> </a:t>
            </a:r>
            <a:r>
              <a:rPr lang="en-IN" b="1" dirty="0" err="1" smtClean="0">
                <a:ln/>
                <a:solidFill>
                  <a:srgbClr val="FF0000"/>
                </a:solidFill>
              </a:rPr>
              <a:t>Sathya</a:t>
            </a:r>
            <a:r>
              <a:rPr lang="en-IN" b="1" dirty="0" smtClean="0">
                <a:ln/>
                <a:solidFill>
                  <a:srgbClr val="FF0000"/>
                </a:solidFill>
              </a:rPr>
              <a:t> P</a:t>
            </a:r>
          </a:p>
          <a:p>
            <a:r>
              <a:rPr lang="en-IN" b="1" dirty="0" smtClean="0">
                <a:ln/>
                <a:solidFill>
                  <a:srgbClr val="FF0000"/>
                </a:solidFill>
              </a:rPr>
              <a:t>Associate Professor</a:t>
            </a:r>
          </a:p>
          <a:p>
            <a:r>
              <a:rPr lang="en-IN" b="1" dirty="0" smtClean="0">
                <a:ln/>
                <a:solidFill>
                  <a:srgbClr val="FF0000"/>
                </a:solidFill>
              </a:rPr>
              <a:t>SENSE</a:t>
            </a:r>
            <a:endParaRPr lang="en-IN" b="1" dirty="0">
              <a:ln/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033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9349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 smtClean="0">
                <a:solidFill>
                  <a:srgbClr val="FF0000"/>
                </a:solidFill>
                <a:latin typeface="Bookman Old Style" panose="02050604050505020204" pitchFamily="18" charset="0"/>
              </a:rPr>
              <a:t>Transfer Functions</a:t>
            </a:r>
            <a:endParaRPr lang="en-IN" sz="32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4566"/>
            <a:ext cx="10515600" cy="461883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 smtClean="0">
                <a:latin typeface="Bookman Old Style" panose="02050604050505020204" pitchFamily="18" charset="0"/>
              </a:rPr>
              <a:t>The transfer function indicates how a signal is processed as it passes through a network.</a:t>
            </a:r>
          </a:p>
          <a:p>
            <a:pPr algn="just">
              <a:lnSpc>
                <a:spcPct val="150000"/>
              </a:lnSpc>
            </a:pPr>
            <a:r>
              <a:rPr lang="en-IN" sz="2000" dirty="0" smtClean="0">
                <a:latin typeface="Bookman Old Style" panose="02050604050505020204" pitchFamily="18" charset="0"/>
              </a:rPr>
              <a:t>It is a fitting tool for finding the network response, determining network stability and network synthesis.</a:t>
            </a:r>
          </a:p>
          <a:p>
            <a:pPr algn="just">
              <a:lnSpc>
                <a:spcPct val="150000"/>
              </a:lnSpc>
            </a:pPr>
            <a:r>
              <a:rPr lang="en-IN" sz="2000" dirty="0" smtClean="0">
                <a:latin typeface="Bookman Old Style" panose="02050604050505020204" pitchFamily="18" charset="0"/>
              </a:rPr>
              <a:t>It describes how the output behaves with respect to the input.</a:t>
            </a:r>
          </a:p>
          <a:p>
            <a:pPr algn="just">
              <a:lnSpc>
                <a:spcPct val="150000"/>
              </a:lnSpc>
            </a:pPr>
            <a:endParaRPr lang="en-IN" sz="20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000" dirty="0" smtClean="0">
              <a:latin typeface="Bookman Old Style" panose="0205060405050502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062" y="4252910"/>
            <a:ext cx="8824913" cy="94089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475" y="5322348"/>
            <a:ext cx="2097470" cy="133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368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313" y="739775"/>
            <a:ext cx="10515600" cy="4351338"/>
          </a:xfrm>
        </p:spPr>
        <p:txBody>
          <a:bodyPr/>
          <a:lstStyle/>
          <a:p>
            <a:r>
              <a:rPr lang="en-IN" dirty="0" smtClean="0">
                <a:solidFill>
                  <a:srgbClr val="FF0000"/>
                </a:solidFill>
                <a:latin typeface="Bookman Old Style" panose="02050604050505020204" pitchFamily="18" charset="0"/>
              </a:rPr>
              <a:t>Types of Transfer functions:</a:t>
            </a:r>
            <a:endParaRPr lang="en-IN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74" y="1247775"/>
            <a:ext cx="4633913" cy="422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292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368" y="477278"/>
            <a:ext cx="10515600" cy="638072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400" dirty="0" smtClean="0">
                <a:latin typeface="Bookman Old Style" panose="02050604050505020204" pitchFamily="18" charset="0"/>
              </a:rPr>
              <a:t>If we know the input X(s) and the transfer function H(s), we find the output Y(s) as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dirty="0" smtClean="0">
                <a:latin typeface="Bookman Old Style" panose="02050604050505020204" pitchFamily="18" charset="0"/>
              </a:rPr>
              <a:t>Take the inverse transform to get y(t).</a:t>
            </a:r>
            <a:endParaRPr lang="en-IN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dirty="0" smtClean="0">
                <a:latin typeface="Bookman Old Style" panose="02050604050505020204" pitchFamily="18" charset="0"/>
              </a:rPr>
              <a:t>A special case is when the input is the unit impulse function, x(t) = </a:t>
            </a:r>
            <a:r>
              <a:rPr lang="el-GR" sz="2400" dirty="0" smtClean="0">
                <a:latin typeface="Bookman Old Style" panose="02050604050505020204" pitchFamily="18" charset="0"/>
              </a:rPr>
              <a:t>δ</a:t>
            </a:r>
            <a:r>
              <a:rPr lang="en-IN" sz="2400" dirty="0" smtClean="0">
                <a:latin typeface="Bookman Old Style" panose="02050604050505020204" pitchFamily="18" charset="0"/>
              </a:rPr>
              <a:t>(t), so that X(s) = 1. For this case,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IN" sz="2400" dirty="0" smtClean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dirty="0" smtClean="0">
                <a:latin typeface="Bookman Old Style" panose="02050604050505020204" pitchFamily="18" charset="0"/>
              </a:rPr>
              <a:t>The term h(t) is the unit impulse response.</a:t>
            </a:r>
          </a:p>
          <a:p>
            <a:pPr>
              <a:lnSpc>
                <a:spcPct val="150000"/>
              </a:lnSpc>
            </a:pPr>
            <a:endParaRPr lang="en-IN" sz="2400" dirty="0" smtClean="0">
              <a:latin typeface="Bookman Old Style" panose="020506040505050202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400" dirty="0">
              <a:latin typeface="Bookman Old Style" panose="020506040505050202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920" y="1507136"/>
            <a:ext cx="2408949" cy="63300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598" y="4207572"/>
            <a:ext cx="5513577" cy="82236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6414" y="5095344"/>
            <a:ext cx="2525943" cy="50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685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217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Numerical - 1</a:t>
            </a:r>
            <a:endParaRPr lang="en-IN" sz="32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6812" y="1443831"/>
            <a:ext cx="9148763" cy="4912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438" y="2147887"/>
            <a:ext cx="5138006" cy="366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396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9187" y="786607"/>
            <a:ext cx="1309688" cy="5382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213" y="1324835"/>
            <a:ext cx="4291012" cy="475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269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932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Numerical - 2</a:t>
            </a:r>
            <a:endParaRPr lang="en-IN" sz="3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14450"/>
            <a:ext cx="10010503" cy="1447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699" y="3209925"/>
            <a:ext cx="4839589" cy="271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399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1098" y="553244"/>
            <a:ext cx="5962651" cy="22260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046" y="2780294"/>
            <a:ext cx="7299378" cy="14515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861" y="4271620"/>
            <a:ext cx="2595564" cy="9999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8264" y="5311295"/>
            <a:ext cx="2240758" cy="104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232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5837" y="2705893"/>
            <a:ext cx="9317618" cy="34805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287" y="719137"/>
            <a:ext cx="6600826" cy="159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347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7362" y="486567"/>
            <a:ext cx="7186613" cy="613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58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4412" y="238919"/>
            <a:ext cx="8243888" cy="46383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725" y="5300662"/>
            <a:ext cx="5908152" cy="100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001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1175" y="562768"/>
            <a:ext cx="8977430" cy="586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85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2068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Numerical - 3</a:t>
            </a:r>
            <a:endParaRPr lang="en-IN" sz="36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3112" y="932201"/>
            <a:ext cx="7229475" cy="592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420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0699"/>
          </a:xfrm>
        </p:spPr>
        <p:txBody>
          <a:bodyPr/>
          <a:lstStyle/>
          <a:p>
            <a:pPr algn="ctr"/>
            <a:r>
              <a:rPr lang="en-IN" dirty="0" smtClean="0">
                <a:solidFill>
                  <a:srgbClr val="FF0000"/>
                </a:solidFill>
              </a:rPr>
              <a:t>Practice Problem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6613" y="2905125"/>
            <a:ext cx="4281487" cy="23154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748" y="1457325"/>
            <a:ext cx="9224827" cy="133416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6512" y="5572124"/>
            <a:ext cx="8777288" cy="99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567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1319</TotalTime>
  <Words>139</Words>
  <Application>Microsoft Office PowerPoint</Application>
  <PresentationFormat>Widescreen</PresentationFormat>
  <Paragraphs>20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Bookman Old Style</vt:lpstr>
      <vt:lpstr>Calibri</vt:lpstr>
      <vt:lpstr>Calibri Light</vt:lpstr>
      <vt:lpstr>Office Theme</vt:lpstr>
      <vt:lpstr>      Module - 4 Transfer Functions</vt:lpstr>
      <vt:lpstr>Transfer Functions</vt:lpstr>
      <vt:lpstr>PowerPoint Presentation</vt:lpstr>
      <vt:lpstr>PowerPoint Presentation</vt:lpstr>
      <vt:lpstr>Numerical - 1</vt:lpstr>
      <vt:lpstr>PowerPoint Presentation</vt:lpstr>
      <vt:lpstr>Numerical - 2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Numerical - 3</vt:lpstr>
      <vt:lpstr>Practice Problem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Digital Logic and Design</dc:title>
  <dc:creator>Admin</dc:creator>
  <cp:lastModifiedBy>Admin</cp:lastModifiedBy>
  <cp:revision>410</cp:revision>
  <dcterms:created xsi:type="dcterms:W3CDTF">2021-02-21T23:58:04Z</dcterms:created>
  <dcterms:modified xsi:type="dcterms:W3CDTF">2025-10-27T23:11:47Z</dcterms:modified>
</cp:coreProperties>
</file>