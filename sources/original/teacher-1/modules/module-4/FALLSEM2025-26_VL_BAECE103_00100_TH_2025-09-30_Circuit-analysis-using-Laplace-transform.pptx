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11" r:id="rId3"/>
    <p:sldId id="312" r:id="rId4"/>
    <p:sldId id="315" r:id="rId5"/>
    <p:sldId id="314" r:id="rId6"/>
    <p:sldId id="316" r:id="rId7"/>
    <p:sldId id="317" r:id="rId8"/>
    <p:sldId id="304" r:id="rId9"/>
    <p:sldId id="321" r:id="rId10"/>
    <p:sldId id="320" r:id="rId11"/>
    <p:sldId id="319" r:id="rId12"/>
    <p:sldId id="31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24" autoAdjust="0"/>
  </p:normalViewPr>
  <p:slideViewPr>
    <p:cSldViewPr>
      <p:cViewPr>
        <p:scale>
          <a:sx n="82" d="100"/>
          <a:sy n="82" d="100"/>
        </p:scale>
        <p:origin x="-996" y="-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56DB8-B62D-4B4A-B389-773F4DAEAD58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597290-AA9E-4384-9831-FC29F2C208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168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F490-7A07-4760-A878-7899EAE41FD3}" type="datetime1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E86C-D0D3-4103-835D-50B6AFE43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10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630A-E2F2-42FD-8C2E-BA6A3BA96040}" type="datetime1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E86C-D0D3-4103-835D-50B6AFE43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696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BCB7D-D666-4502-B63D-4EC396CE97C6}" type="datetime1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E86C-D0D3-4103-835D-50B6AFE43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600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90A31-63D7-4CBA-A86B-C4B9D0317CB2}" type="datetime1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E86C-D0D3-4103-835D-50B6AFE43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07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4440F-AAAF-4EE2-AF2F-9793D323B40F}" type="datetime1">
              <a:rPr lang="en-IN" smtClean="0"/>
              <a:t>29-09-2025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E86C-D0D3-4103-835D-50B6AFE43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725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4FF46-738B-4916-9D89-895032E07ADD}" type="datetime1">
              <a:rPr lang="en-IN" smtClean="0"/>
              <a:t>29-09-2025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E86C-D0D3-4103-835D-50B6AFE43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255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1CB7A-23EE-495E-B286-D2F050B147F3}" type="datetime1">
              <a:rPr lang="en-IN" smtClean="0"/>
              <a:t>29-09-2025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E86C-D0D3-4103-835D-50B6AFE43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802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B9B38-2F9F-4F1F-BB01-D9E42EA8CDF7}" type="datetime1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E86C-D0D3-4103-835D-50B6AFE43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021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005A8-CA1F-45AA-AAE1-B1586971FB21}" type="datetime1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E86C-D0D3-4103-835D-50B6AFE43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821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D6A9-C091-4DA2-AC9A-43C1A720F8F2}" type="datetime1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E86C-D0D3-4103-835D-50B6AFE43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142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A294-3CB9-463E-A096-0CA4A2CBC4D3}" type="datetime1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E86C-D0D3-4103-835D-50B6AFE43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828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CB15C-D7E5-415E-9D67-254BD844D1F1}" type="datetime1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1E86C-D0D3-4103-835D-50B6AFE43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580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692696"/>
            <a:ext cx="7772400" cy="1470025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Palatino Linotype" pitchFamily="18" charset="0"/>
              </a:rPr>
              <a:t>Module 4</a:t>
            </a:r>
            <a:endParaRPr lang="en-IN" dirty="0">
              <a:solidFill>
                <a:schemeClr val="bg1">
                  <a:lumMod val="65000"/>
                </a:schemeClr>
              </a:solidFill>
              <a:latin typeface="Palatino Linotype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08920"/>
            <a:ext cx="6400800" cy="2448272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Palatino Linotype" pitchFamily="18" charset="0"/>
              </a:rPr>
              <a:t>Circuit Analysis in the S Domain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  <a:latin typeface="Palatino Linotype" pitchFamily="18" charset="0"/>
            </a:endParaRPr>
          </a:p>
          <a:p>
            <a:r>
              <a:rPr lang="en-US" sz="1800" dirty="0" smtClean="0">
                <a:solidFill>
                  <a:schemeClr val="bg1">
                    <a:lumMod val="50000"/>
                  </a:schemeClr>
                </a:solidFill>
                <a:latin typeface="Palatino Linotype" pitchFamily="18" charset="0"/>
              </a:rPr>
              <a:t>Dr. Elizabeth Rufus</a:t>
            </a:r>
          </a:p>
          <a:p>
            <a:r>
              <a:rPr lang="en-US" sz="1800" dirty="0" smtClean="0">
                <a:solidFill>
                  <a:schemeClr val="bg1">
                    <a:lumMod val="50000"/>
                  </a:schemeClr>
                </a:solidFill>
                <a:latin typeface="Palatino Linotype" pitchFamily="18" charset="0"/>
              </a:rPr>
              <a:t>Professor, School of Electronics Engineering</a:t>
            </a:r>
            <a:endParaRPr lang="en-IN" sz="1800" dirty="0">
              <a:solidFill>
                <a:schemeClr val="bg1">
                  <a:lumMod val="50000"/>
                </a:schemeClr>
              </a:solidFill>
              <a:latin typeface="Palatino Linotype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E86C-D0D3-4103-835D-50B6AFE43EA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5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E86C-D0D3-4103-835D-50B6AFE43EA3}" type="slidenum">
              <a:rPr lang="en-IN" smtClean="0"/>
              <a:t>2</a:t>
            </a:fld>
            <a:endParaRPr lang="en-IN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-23259"/>
            <a:ext cx="8229600" cy="562074"/>
          </a:xfrm>
        </p:spPr>
        <p:txBody>
          <a:bodyPr>
            <a:noAutofit/>
          </a:bodyPr>
          <a:lstStyle/>
          <a:p>
            <a:pPr algn="l"/>
            <a:r>
              <a:rPr lang="en-US" sz="3200" dirty="0" smtClean="0">
                <a:latin typeface="Palatino Linotype" pitchFamily="18" charset="0"/>
              </a:rPr>
              <a:t>Circuit analysis using Laplace Transform</a:t>
            </a:r>
            <a:endParaRPr lang="en-IN" sz="3200" dirty="0">
              <a:latin typeface="Palatino Linotype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079" y="2492896"/>
            <a:ext cx="1368152" cy="2059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420888"/>
            <a:ext cx="1800200" cy="1994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2" y="2780928"/>
            <a:ext cx="2364747" cy="161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73" y="1602032"/>
            <a:ext cx="1689084" cy="418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283" y="1380694"/>
            <a:ext cx="2114326" cy="860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5760" y="657562"/>
            <a:ext cx="8910735" cy="793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smtClean="0">
                <a:latin typeface="Palatino Linotype" pitchFamily="18" charset="0"/>
              </a:rPr>
              <a:t>For a </a:t>
            </a:r>
            <a:r>
              <a:rPr lang="en-US" sz="1600" b="1" dirty="0" smtClean="0">
                <a:latin typeface="Palatino Linotype" pitchFamily="18" charset="0"/>
              </a:rPr>
              <a:t>resistor</a:t>
            </a:r>
            <a:r>
              <a:rPr lang="en-US" sz="1600" dirty="0">
                <a:latin typeface="Palatino Linotype" pitchFamily="18" charset="0"/>
              </a:rPr>
              <a:t>, the voltage-current relationship in the time domain </a:t>
            </a:r>
            <a:r>
              <a:rPr lang="en-US" sz="1600" dirty="0" smtClean="0">
                <a:latin typeface="Palatino Linotype" pitchFamily="18" charset="0"/>
              </a:rPr>
              <a:t>and in frequency domain is as follows:</a:t>
            </a:r>
            <a:endParaRPr lang="en-IN" sz="1600" dirty="0">
              <a:latin typeface="Palatino Linotype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386" y="2204864"/>
            <a:ext cx="16738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dirty="0">
                <a:latin typeface="Palatino Linotype" pitchFamily="18" charset="0"/>
              </a:rPr>
              <a:t>For an </a:t>
            </a:r>
            <a:r>
              <a:rPr lang="en-IN" sz="1600" b="1" dirty="0">
                <a:latin typeface="Palatino Linotype" pitchFamily="18" charset="0"/>
              </a:rPr>
              <a:t>inductor</a:t>
            </a:r>
            <a:r>
              <a:rPr lang="en-IN" dirty="0"/>
              <a:t>,</a:t>
            </a:r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30" y="4509120"/>
            <a:ext cx="1504397" cy="661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89240"/>
            <a:ext cx="4172027" cy="534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25760" y="5229200"/>
            <a:ext cx="89107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Palatino Linotype" pitchFamily="18" charset="0"/>
              </a:rPr>
              <a:t>Taking the Laplace transform of both sides </a:t>
            </a:r>
            <a:r>
              <a:rPr lang="en-US" sz="1600" dirty="0" smtClean="0">
                <a:latin typeface="Palatino Linotype" pitchFamily="18" charset="0"/>
              </a:rPr>
              <a:t>and applying time differentiation property,</a:t>
            </a:r>
            <a:endParaRPr lang="en-IN" sz="1600" dirty="0">
              <a:latin typeface="Palatino Linotype" pitchFamily="18" charset="0"/>
            </a:endParaRPr>
          </a:p>
        </p:txBody>
      </p:sp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5589240"/>
            <a:ext cx="3283187" cy="1231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5136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E86C-D0D3-4103-835D-50B6AFE43EA3}" type="slidenum">
              <a:rPr lang="en-IN" smtClean="0"/>
              <a:t>3</a:t>
            </a:fld>
            <a:endParaRPr lang="en-IN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-23259"/>
            <a:ext cx="8229600" cy="562074"/>
          </a:xfrm>
        </p:spPr>
        <p:txBody>
          <a:bodyPr>
            <a:noAutofit/>
          </a:bodyPr>
          <a:lstStyle/>
          <a:p>
            <a:pPr algn="l"/>
            <a:r>
              <a:rPr lang="en-US" sz="3200" dirty="0" smtClean="0">
                <a:latin typeface="Palatino Linotype" pitchFamily="18" charset="0"/>
              </a:rPr>
              <a:t>Circuit analysis using Laplace Transform</a:t>
            </a:r>
            <a:endParaRPr lang="en-IN" sz="3200" dirty="0">
              <a:latin typeface="Palatino Linotype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7504" y="764704"/>
            <a:ext cx="170258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dirty="0">
                <a:latin typeface="Palatino Linotype" pitchFamily="18" charset="0"/>
              </a:rPr>
              <a:t>For an </a:t>
            </a:r>
            <a:r>
              <a:rPr lang="en-IN" sz="1600" b="1" dirty="0">
                <a:latin typeface="Palatino Linotype" pitchFamily="18" charset="0"/>
              </a:rPr>
              <a:t>c</a:t>
            </a:r>
            <a:r>
              <a:rPr lang="en-IN" sz="1600" b="1" dirty="0" smtClean="0">
                <a:latin typeface="Palatino Linotype" pitchFamily="18" charset="0"/>
              </a:rPr>
              <a:t>apacitor,</a:t>
            </a: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38" y="1103812"/>
            <a:ext cx="1610361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847883"/>
            <a:ext cx="5040560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41" y="2531843"/>
            <a:ext cx="2585529" cy="1045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058" y="2277999"/>
            <a:ext cx="6086414" cy="1727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7504" y="4006805"/>
            <a:ext cx="8928992" cy="793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Palatino Linotype" pitchFamily="18" charset="0"/>
              </a:rPr>
              <a:t>If we assume zero initial conditions for the inductor and the </a:t>
            </a:r>
            <a:r>
              <a:rPr lang="en-US" sz="1600" dirty="0" smtClean="0">
                <a:latin typeface="Palatino Linotype" pitchFamily="18" charset="0"/>
              </a:rPr>
              <a:t>capacitor</a:t>
            </a:r>
            <a:r>
              <a:rPr lang="en-US" sz="1600" dirty="0">
                <a:latin typeface="Palatino Linotype" pitchFamily="18" charset="0"/>
              </a:rPr>
              <a:t>, the above equations reduce to:</a:t>
            </a:r>
            <a:endParaRPr lang="en-IN" sz="1600" dirty="0">
              <a:latin typeface="Palatino Linotype" pitchFamily="18" charset="0"/>
            </a:endParaRPr>
          </a:p>
        </p:txBody>
      </p: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745774"/>
            <a:ext cx="3349996" cy="1395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4115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E86C-D0D3-4103-835D-50B6AFE43EA3}" type="slidenum">
              <a:rPr lang="en-IN" smtClean="0"/>
              <a:t>4</a:t>
            </a:fld>
            <a:endParaRPr lang="en-IN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23259"/>
            <a:ext cx="8229600" cy="562074"/>
          </a:xfrm>
        </p:spPr>
        <p:txBody>
          <a:bodyPr>
            <a:noAutofit/>
          </a:bodyPr>
          <a:lstStyle/>
          <a:p>
            <a:pPr algn="l"/>
            <a:r>
              <a:rPr lang="en-US" sz="3200" dirty="0" smtClean="0">
                <a:latin typeface="Palatino Linotype" pitchFamily="18" charset="0"/>
              </a:rPr>
              <a:t>Circuit analysis using Laplace Transform</a:t>
            </a:r>
            <a:endParaRPr lang="en-IN" sz="3200" dirty="0">
              <a:latin typeface="Palatino Linotype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7504" y="836712"/>
            <a:ext cx="68407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 smtClean="0">
                <a:latin typeface="Palatino Linotype" pitchFamily="18" charset="0"/>
              </a:rPr>
              <a:t>Impedance </a:t>
            </a:r>
            <a:r>
              <a:rPr lang="en-IN" sz="1600" dirty="0">
                <a:latin typeface="Palatino Linotype" pitchFamily="18" charset="0"/>
              </a:rPr>
              <a:t>in the </a:t>
            </a:r>
            <a:r>
              <a:rPr lang="en-IN" sz="1600" dirty="0" smtClean="0">
                <a:latin typeface="Palatino Linotype" pitchFamily="18" charset="0"/>
              </a:rPr>
              <a:t>s-domain:</a:t>
            </a:r>
            <a:endParaRPr lang="en-IN" sz="1600" dirty="0">
              <a:latin typeface="Palatino Linotype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340768"/>
            <a:ext cx="2695259" cy="1368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7504" y="2852936"/>
            <a:ext cx="8928992" cy="793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Palatino Linotype" pitchFamily="18" charset="0"/>
              </a:rPr>
              <a:t>The dependent source can have only two controlling values, a constant times either a voltage or a current. </a:t>
            </a:r>
            <a:endParaRPr lang="en-IN" sz="1600" dirty="0">
              <a:latin typeface="Palatino Linotype" pitchFamily="18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578" y="3432175"/>
            <a:ext cx="1734254" cy="805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5580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E86C-D0D3-4103-835D-50B6AFE43EA3}" type="slidenum">
              <a:rPr lang="en-IN" smtClean="0"/>
              <a:t>5</a:t>
            </a:fld>
            <a:endParaRPr lang="en-IN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-23259"/>
            <a:ext cx="8229600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smtClean="0">
                <a:latin typeface="Palatino Linotype" pitchFamily="18" charset="0"/>
              </a:rPr>
              <a:t>Circuit analysis using Laplace Transform</a:t>
            </a:r>
            <a:endParaRPr lang="en-IN" sz="3200" dirty="0">
              <a:latin typeface="Palatino Linotype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9512" y="836712"/>
            <a:ext cx="88569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Palatino Linotype" pitchFamily="18" charset="0"/>
              </a:rPr>
              <a:t>1. Find </a:t>
            </a:r>
            <a:r>
              <a:rPr lang="en-US" sz="1600" i="1" dirty="0" smtClean="0">
                <a:latin typeface="Palatino Linotype" pitchFamily="18" charset="0"/>
              </a:rPr>
              <a:t>v</a:t>
            </a:r>
            <a:r>
              <a:rPr lang="en-US" sz="1600" i="1" baseline="-25000" dirty="0" smtClean="0">
                <a:latin typeface="Palatino Linotype" pitchFamily="18" charset="0"/>
              </a:rPr>
              <a:t>0</a:t>
            </a:r>
            <a:r>
              <a:rPr lang="en-US" sz="1600" i="1" dirty="0" smtClean="0">
                <a:latin typeface="Palatino Linotype" pitchFamily="18" charset="0"/>
              </a:rPr>
              <a:t>(t) </a:t>
            </a:r>
            <a:r>
              <a:rPr lang="en-US" sz="1600" dirty="0" smtClean="0">
                <a:latin typeface="Palatino Linotype" pitchFamily="18" charset="0"/>
              </a:rPr>
              <a:t>in </a:t>
            </a:r>
            <a:r>
              <a:rPr lang="en-US" sz="1600" dirty="0">
                <a:latin typeface="Palatino Linotype" pitchFamily="18" charset="0"/>
              </a:rPr>
              <a:t>the </a:t>
            </a:r>
            <a:r>
              <a:rPr lang="en-US" sz="1600" dirty="0" smtClean="0">
                <a:latin typeface="Palatino Linotype" pitchFamily="18" charset="0"/>
              </a:rPr>
              <a:t>circuit, </a:t>
            </a:r>
            <a:r>
              <a:rPr lang="en-US" sz="1600" dirty="0">
                <a:latin typeface="Palatino Linotype" pitchFamily="18" charset="0"/>
              </a:rPr>
              <a:t>assuming zero initial conditions.</a:t>
            </a:r>
            <a:endParaRPr lang="en-IN" sz="1600" dirty="0">
              <a:latin typeface="Palatino Linotype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654" y="1340768"/>
            <a:ext cx="3749559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484784"/>
            <a:ext cx="2678932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501007"/>
            <a:ext cx="3302355" cy="197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3931407" y="3429000"/>
            <a:ext cx="12346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dirty="0">
                <a:latin typeface="Palatino Linotype" pitchFamily="18" charset="0"/>
              </a:rPr>
              <a:t>For mesh 1,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90687" y="4725144"/>
            <a:ext cx="12346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dirty="0">
                <a:latin typeface="Palatino Linotype" pitchFamily="18" charset="0"/>
              </a:rPr>
              <a:t>For mesh </a:t>
            </a:r>
            <a:r>
              <a:rPr lang="en-IN" sz="1600" dirty="0" smtClean="0">
                <a:latin typeface="Palatino Linotype" pitchFamily="18" charset="0"/>
              </a:rPr>
              <a:t>2,</a:t>
            </a:r>
            <a:endParaRPr lang="en-IN" sz="1600" dirty="0">
              <a:latin typeface="Palatino Linotype" pitchFamily="18" charset="0"/>
            </a:endParaRP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1808" y="3793486"/>
            <a:ext cx="2488464" cy="74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6213" y="5102188"/>
            <a:ext cx="3300443" cy="77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004" y="5895790"/>
            <a:ext cx="2538379" cy="701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7308304" y="3995416"/>
            <a:ext cx="56297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dirty="0" smtClean="0">
                <a:latin typeface="Palatino Linotype" pitchFamily="18" charset="0"/>
              </a:rPr>
              <a:t>----1</a:t>
            </a:r>
            <a:endParaRPr lang="en-IN" sz="1600" dirty="0">
              <a:latin typeface="Palatino Linotype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543179" y="6077294"/>
            <a:ext cx="56297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dirty="0" smtClean="0">
                <a:latin typeface="Palatino Linotype" pitchFamily="18" charset="0"/>
              </a:rPr>
              <a:t>----2</a:t>
            </a:r>
            <a:endParaRPr lang="en-IN" sz="1600" dirty="0">
              <a:latin typeface="Palatino Linotyp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580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E86C-D0D3-4103-835D-50B6AFE43EA3}" type="slidenum">
              <a:rPr lang="en-IN" smtClean="0"/>
              <a:t>6</a:t>
            </a:fld>
            <a:endParaRPr lang="en-IN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-23259"/>
            <a:ext cx="8229600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smtClean="0">
                <a:latin typeface="Palatino Linotype" pitchFamily="18" charset="0"/>
              </a:rPr>
              <a:t>Circuit analysis using Laplace Transform</a:t>
            </a:r>
            <a:endParaRPr lang="en-IN" sz="3200" dirty="0">
              <a:latin typeface="Palatino Linotype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9512" y="764704"/>
            <a:ext cx="20730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dirty="0" smtClean="0">
                <a:latin typeface="Palatino Linotype" pitchFamily="18" charset="0"/>
              </a:rPr>
              <a:t>Substitute  eqn.2 in 1</a:t>
            </a:r>
            <a:endParaRPr lang="en-IN" sz="1600" dirty="0">
              <a:latin typeface="Palatino Linotype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268760"/>
            <a:ext cx="4195851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79512" y="2204864"/>
            <a:ext cx="31595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dirty="0">
                <a:latin typeface="Palatino Linotype" pitchFamily="18" charset="0"/>
              </a:rPr>
              <a:t>Multiplying through by </a:t>
            </a:r>
            <a:r>
              <a:rPr lang="en-IN" sz="1600" dirty="0" smtClean="0">
                <a:latin typeface="Palatino Linotype" pitchFamily="18" charset="0"/>
              </a:rPr>
              <a:t>3s gives,</a:t>
            </a:r>
            <a:endParaRPr lang="en-IN" sz="1600" dirty="0">
              <a:latin typeface="Palatino Linotype" pitchFamily="18" charset="0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708920"/>
            <a:ext cx="5256584" cy="1273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79512" y="4149080"/>
            <a:ext cx="34443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Palatino Linotype" pitchFamily="18" charset="0"/>
              </a:rPr>
              <a:t>Taking the inverse transform </a:t>
            </a:r>
            <a:r>
              <a:rPr lang="en-US" sz="1600" dirty="0" smtClean="0">
                <a:latin typeface="Palatino Linotype" pitchFamily="18" charset="0"/>
              </a:rPr>
              <a:t>yields,</a:t>
            </a:r>
            <a:endParaRPr lang="en-IN" sz="1600" dirty="0">
              <a:latin typeface="Palatino Linotype" pitchFamily="18" charset="0"/>
            </a:endParaRP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81" y="4653136"/>
            <a:ext cx="3451418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0639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E86C-D0D3-4103-835D-50B6AFE43EA3}" type="slidenum">
              <a:rPr lang="en-IN" smtClean="0"/>
              <a:t>7</a:t>
            </a:fld>
            <a:endParaRPr lang="en-IN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-23259"/>
            <a:ext cx="8229600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 smtClean="0">
                <a:latin typeface="Palatino Linotype" pitchFamily="18" charset="0"/>
              </a:rPr>
              <a:t>Circuit analysis using Laplace Transform</a:t>
            </a:r>
            <a:endParaRPr lang="en-IN" sz="3200" dirty="0">
              <a:latin typeface="Palatino Linotype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9512" y="692696"/>
            <a:ext cx="87849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Palatino Linotype" pitchFamily="18" charset="0"/>
              </a:rPr>
              <a:t>2.</a:t>
            </a:r>
            <a:r>
              <a:rPr lang="en-US" dirty="0" smtClean="0"/>
              <a:t> </a:t>
            </a:r>
            <a:r>
              <a:rPr lang="en-US" sz="1600" dirty="0" smtClean="0">
                <a:latin typeface="Palatino Linotype" pitchFamily="18" charset="0"/>
              </a:rPr>
              <a:t>Determine </a:t>
            </a:r>
            <a:r>
              <a:rPr lang="en-US" sz="1600" i="1" dirty="0" smtClean="0">
                <a:latin typeface="Palatino Linotype" pitchFamily="18" charset="0"/>
              </a:rPr>
              <a:t>v</a:t>
            </a:r>
            <a:r>
              <a:rPr lang="en-US" sz="1600" i="1" baseline="-25000" dirty="0" smtClean="0">
                <a:latin typeface="Palatino Linotype" pitchFamily="18" charset="0"/>
              </a:rPr>
              <a:t>0</a:t>
            </a:r>
            <a:r>
              <a:rPr lang="en-US" sz="1600" i="1" dirty="0" smtClean="0">
                <a:latin typeface="Palatino Linotype" pitchFamily="18" charset="0"/>
              </a:rPr>
              <a:t>(t) </a:t>
            </a:r>
            <a:r>
              <a:rPr lang="en-US" sz="1600" dirty="0" smtClean="0">
                <a:latin typeface="Palatino Linotype" pitchFamily="18" charset="0"/>
              </a:rPr>
              <a:t>in </a:t>
            </a:r>
            <a:r>
              <a:rPr lang="en-US" sz="1600" dirty="0">
                <a:latin typeface="Palatino Linotype" pitchFamily="18" charset="0"/>
              </a:rPr>
              <a:t>the </a:t>
            </a:r>
            <a:r>
              <a:rPr lang="en-US" sz="1600" dirty="0" smtClean="0">
                <a:latin typeface="Palatino Linotype" pitchFamily="18" charset="0"/>
              </a:rPr>
              <a:t>circuit, </a:t>
            </a:r>
            <a:r>
              <a:rPr lang="en-US" sz="1600" dirty="0">
                <a:latin typeface="Palatino Linotype" pitchFamily="18" charset="0"/>
              </a:rPr>
              <a:t>assuming zero initial conditions</a:t>
            </a:r>
            <a:endParaRPr lang="en-IN" sz="1600" dirty="0">
              <a:latin typeface="Palatino Linotype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773" y="1196752"/>
            <a:ext cx="3401082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916832"/>
            <a:ext cx="3024336" cy="471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5148064" y="1484784"/>
            <a:ext cx="95058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>
                <a:latin typeface="Palatino Linotype" pitchFamily="18" charset="0"/>
              </a:rPr>
              <a:t>Answer:</a:t>
            </a:r>
            <a:endParaRPr lang="en-IN" sz="1600" dirty="0"/>
          </a:p>
        </p:txBody>
      </p:sp>
      <p:sp>
        <p:nvSpPr>
          <p:cNvPr id="6" name="Rectangle 5"/>
          <p:cNvSpPr/>
          <p:nvPr/>
        </p:nvSpPr>
        <p:spPr>
          <a:xfrm>
            <a:off x="216024" y="3477267"/>
            <a:ext cx="8748464" cy="793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smtClean="0">
                <a:latin typeface="Palatino Linotype" pitchFamily="18" charset="0"/>
              </a:rPr>
              <a:t>3. Find </a:t>
            </a:r>
            <a:r>
              <a:rPr lang="en-US" sz="1600" i="1" dirty="0" err="1" smtClean="0">
                <a:latin typeface="Palatino Linotype" pitchFamily="18" charset="0"/>
              </a:rPr>
              <a:t>v</a:t>
            </a:r>
            <a:r>
              <a:rPr lang="en-US" sz="1600" i="1" baseline="-25000" dirty="0" err="1" smtClean="0">
                <a:latin typeface="Palatino Linotype" pitchFamily="18" charset="0"/>
              </a:rPr>
              <a:t>o</a:t>
            </a:r>
            <a:r>
              <a:rPr lang="en-US" sz="1600" i="1" dirty="0" smtClean="0">
                <a:latin typeface="Palatino Linotype" pitchFamily="18" charset="0"/>
              </a:rPr>
              <a:t>(t)</a:t>
            </a:r>
            <a:r>
              <a:rPr lang="en-US" sz="1600" dirty="0" smtClean="0">
                <a:latin typeface="Palatino Linotype" pitchFamily="18" charset="0"/>
              </a:rPr>
              <a:t> in </a:t>
            </a:r>
            <a:r>
              <a:rPr lang="en-US" sz="1600" dirty="0">
                <a:latin typeface="Palatino Linotype" pitchFamily="18" charset="0"/>
              </a:rPr>
              <a:t>the </a:t>
            </a:r>
            <a:r>
              <a:rPr lang="en-US" sz="1600" dirty="0" smtClean="0">
                <a:latin typeface="Palatino Linotype" pitchFamily="18" charset="0"/>
              </a:rPr>
              <a:t>circuit. </a:t>
            </a:r>
            <a:r>
              <a:rPr lang="en-US" sz="1600" dirty="0">
                <a:latin typeface="Palatino Linotype" pitchFamily="18" charset="0"/>
              </a:rPr>
              <a:t>Note that, since the </a:t>
            </a:r>
            <a:r>
              <a:rPr lang="en-US" sz="1600" dirty="0" smtClean="0">
                <a:latin typeface="Palatino Linotype" pitchFamily="18" charset="0"/>
              </a:rPr>
              <a:t>voltage </a:t>
            </a:r>
            <a:r>
              <a:rPr lang="en-US" sz="1600" dirty="0">
                <a:latin typeface="Palatino Linotype" pitchFamily="18" charset="0"/>
              </a:rPr>
              <a:t>input is multiplied by u(t), the voltage source is a short for </a:t>
            </a:r>
            <a:r>
              <a:rPr lang="en-US" sz="1600" dirty="0" smtClean="0">
                <a:latin typeface="Palatino Linotype" pitchFamily="18" charset="0"/>
              </a:rPr>
              <a:t>all </a:t>
            </a:r>
            <a:r>
              <a:rPr lang="en-US" sz="1600" i="1" dirty="0" smtClean="0">
                <a:latin typeface="Palatino Linotype" pitchFamily="18" charset="0"/>
              </a:rPr>
              <a:t>t &lt; 0 </a:t>
            </a:r>
            <a:r>
              <a:rPr lang="en-US" sz="1600" dirty="0" smtClean="0">
                <a:latin typeface="Palatino Linotype" pitchFamily="18" charset="0"/>
              </a:rPr>
              <a:t>and </a:t>
            </a:r>
            <a:r>
              <a:rPr lang="en-US" sz="1600" i="1" dirty="0" err="1">
                <a:latin typeface="Palatino Linotype" pitchFamily="18" charset="0"/>
              </a:rPr>
              <a:t>i</a:t>
            </a:r>
            <a:r>
              <a:rPr lang="en-US" sz="1600" i="1" baseline="-25000" dirty="0" err="1" smtClean="0">
                <a:latin typeface="Palatino Linotype" pitchFamily="18" charset="0"/>
              </a:rPr>
              <a:t>L</a:t>
            </a:r>
            <a:r>
              <a:rPr lang="en-US" sz="1600" i="1" dirty="0" smtClean="0">
                <a:latin typeface="Palatino Linotype" pitchFamily="18" charset="0"/>
              </a:rPr>
              <a:t> (0) = 0.</a:t>
            </a:r>
            <a:endParaRPr lang="en-IN" sz="1600" dirty="0">
              <a:latin typeface="Palatino Linotype" pitchFamily="18" charset="0"/>
            </a:endParaRPr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697" y="4585204"/>
            <a:ext cx="4213559" cy="1527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560" y="4958676"/>
            <a:ext cx="3683872" cy="555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0639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E86C-D0D3-4103-835D-50B6AFE43EA3}" type="slidenum">
              <a:rPr lang="en-IN" smtClean="0"/>
              <a:t>8</a:t>
            </a:fld>
            <a:endParaRPr lang="en-IN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23259"/>
            <a:ext cx="8229600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 smtClean="0">
                <a:latin typeface="Palatino Linotype" pitchFamily="18" charset="0"/>
              </a:rPr>
              <a:t>Circuit analysis using Laplace Transform</a:t>
            </a:r>
            <a:endParaRPr lang="en-IN" sz="3200" dirty="0">
              <a:latin typeface="Palatino Linotype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1520" y="836712"/>
            <a:ext cx="87129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Palatino Linotype" pitchFamily="18" charset="0"/>
              </a:rPr>
              <a:t>4. </a:t>
            </a:r>
            <a:r>
              <a:rPr lang="en-US" sz="1600" dirty="0" smtClean="0">
                <a:latin typeface="Palatino Linotype" pitchFamily="18" charset="0"/>
              </a:rPr>
              <a:t>Find </a:t>
            </a:r>
            <a:r>
              <a:rPr lang="en-US" sz="1600" i="1" dirty="0" smtClean="0">
                <a:latin typeface="Palatino Linotype" pitchFamily="18" charset="0"/>
              </a:rPr>
              <a:t>v</a:t>
            </a:r>
            <a:r>
              <a:rPr lang="en-US" sz="1600" i="1" baseline="-25000" dirty="0" smtClean="0">
                <a:latin typeface="Palatino Linotype" pitchFamily="18" charset="0"/>
              </a:rPr>
              <a:t>0</a:t>
            </a:r>
            <a:r>
              <a:rPr lang="en-US" sz="1600" i="1" dirty="0" smtClean="0">
                <a:latin typeface="Palatino Linotype" pitchFamily="18" charset="0"/>
              </a:rPr>
              <a:t>(t)</a:t>
            </a:r>
            <a:r>
              <a:rPr lang="en-US" sz="1600" dirty="0" smtClean="0">
                <a:latin typeface="Palatino Linotype" pitchFamily="18" charset="0"/>
              </a:rPr>
              <a:t> in </a:t>
            </a:r>
            <a:r>
              <a:rPr lang="en-US" sz="1600" dirty="0">
                <a:latin typeface="Palatino Linotype" pitchFamily="18" charset="0"/>
              </a:rPr>
              <a:t>the </a:t>
            </a:r>
            <a:r>
              <a:rPr lang="en-US" sz="1600" dirty="0" smtClean="0">
                <a:latin typeface="Palatino Linotype" pitchFamily="18" charset="0"/>
              </a:rPr>
              <a:t>circuit. </a:t>
            </a:r>
            <a:r>
              <a:rPr lang="en-US" sz="1600" dirty="0">
                <a:latin typeface="Palatino Linotype" pitchFamily="18" charset="0"/>
              </a:rPr>
              <a:t>Assume </a:t>
            </a:r>
            <a:r>
              <a:rPr lang="en-US" sz="1600" i="1" dirty="0" err="1">
                <a:latin typeface="Palatino Linotype" pitchFamily="18" charset="0"/>
              </a:rPr>
              <a:t>v</a:t>
            </a:r>
            <a:r>
              <a:rPr lang="en-US" sz="1600" i="1" baseline="-25000" dirty="0" err="1">
                <a:latin typeface="Palatino Linotype" pitchFamily="18" charset="0"/>
              </a:rPr>
              <a:t>o</a:t>
            </a:r>
            <a:r>
              <a:rPr lang="en-US" sz="1600" i="1" dirty="0">
                <a:latin typeface="Palatino Linotype" pitchFamily="18" charset="0"/>
              </a:rPr>
              <a:t>(0) </a:t>
            </a:r>
            <a:r>
              <a:rPr lang="en-US" sz="1600" i="1" dirty="0" smtClean="0">
                <a:latin typeface="Palatino Linotype" pitchFamily="18" charset="0"/>
              </a:rPr>
              <a:t>= 5 </a:t>
            </a:r>
            <a:r>
              <a:rPr lang="en-US" sz="1600" i="1" dirty="0">
                <a:latin typeface="Palatino Linotype" pitchFamily="18" charset="0"/>
              </a:rPr>
              <a:t>V</a:t>
            </a:r>
            <a:r>
              <a:rPr lang="en-US" sz="1600" dirty="0">
                <a:latin typeface="Palatino Linotype" pitchFamily="18" charset="0"/>
              </a:rPr>
              <a:t>.</a:t>
            </a:r>
            <a:endParaRPr lang="en-IN" sz="1600" dirty="0">
              <a:latin typeface="Palatino Linotype" pitchFamily="18" charset="0"/>
            </a:endParaRPr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175266"/>
            <a:ext cx="5209965" cy="1461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23" y="3066905"/>
            <a:ext cx="4800533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251520" y="2897628"/>
            <a:ext cx="3094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>
                <a:latin typeface="Palatino Linotype" pitchFamily="18" charset="0"/>
              </a:rPr>
              <a:t>Circuit in the frequency domain</a:t>
            </a:r>
            <a:endParaRPr lang="en-IN" sz="1600" dirty="0"/>
          </a:p>
        </p:txBody>
      </p:sp>
      <p:sp>
        <p:nvSpPr>
          <p:cNvPr id="9" name="Rectangle 8"/>
          <p:cNvSpPr/>
          <p:nvPr/>
        </p:nvSpPr>
        <p:spPr>
          <a:xfrm>
            <a:off x="5016656" y="3432820"/>
            <a:ext cx="3947832" cy="793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Palatino Linotype" pitchFamily="18" charset="0"/>
              </a:rPr>
              <a:t>The initial condition is included in the form of the current </a:t>
            </a:r>
            <a:r>
              <a:rPr lang="en-US" sz="1600" dirty="0" smtClean="0">
                <a:latin typeface="Palatino Linotype" pitchFamily="18" charset="0"/>
              </a:rPr>
              <a:t>source. </a:t>
            </a:r>
            <a:endParaRPr lang="en-IN" sz="1600" dirty="0">
              <a:latin typeface="Palatino Linotype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520" y="4869160"/>
            <a:ext cx="153920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>
                <a:latin typeface="Palatino Linotype" pitchFamily="18" charset="0"/>
              </a:rPr>
              <a:t>Node equation</a:t>
            </a:r>
            <a:endParaRPr lang="en-IN" sz="1600" dirty="0"/>
          </a:p>
        </p:txBody>
      </p:sp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79" y="5207714"/>
            <a:ext cx="3607849" cy="59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714" y="5949279"/>
            <a:ext cx="3362350" cy="617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5717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E86C-D0D3-4103-835D-50B6AFE43EA3}" type="slidenum">
              <a:rPr lang="en-IN" smtClean="0"/>
              <a:t>9</a:t>
            </a:fld>
            <a:endParaRPr lang="en-IN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23259"/>
            <a:ext cx="8229600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 smtClean="0">
                <a:latin typeface="Palatino Linotype" pitchFamily="18" charset="0"/>
              </a:rPr>
              <a:t>Circuit analysis using Laplace Transform</a:t>
            </a:r>
            <a:endParaRPr lang="en-IN" sz="3200" dirty="0">
              <a:latin typeface="Palatino Linotype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9" y="980728"/>
            <a:ext cx="4365959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060848"/>
            <a:ext cx="3816424" cy="857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788" y="3140968"/>
            <a:ext cx="5291909" cy="1368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3" y="4725144"/>
            <a:ext cx="2602575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799" y="5877272"/>
            <a:ext cx="3101883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8533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E86C-D0D3-4103-835D-50B6AFE43EA3}" type="slidenum">
              <a:rPr lang="en-IN" smtClean="0"/>
              <a:t>10</a:t>
            </a:fld>
            <a:endParaRPr lang="en-IN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23259"/>
            <a:ext cx="8229600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 smtClean="0">
                <a:latin typeface="Palatino Linotype" pitchFamily="18" charset="0"/>
              </a:rPr>
              <a:t>Circuit analysis using Laplace Transform</a:t>
            </a:r>
            <a:endParaRPr lang="en-IN" sz="3200" dirty="0">
              <a:latin typeface="Palatino Linotyp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533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5445224"/>
            <a:ext cx="8784976" cy="1143000"/>
          </a:xfrm>
        </p:spPr>
        <p:txBody>
          <a:bodyPr>
            <a:normAutofit/>
          </a:bodyPr>
          <a:lstStyle/>
          <a:p>
            <a:pPr algn="l"/>
            <a:r>
              <a:rPr lang="en-US" sz="3200" dirty="0" smtClean="0">
                <a:solidFill>
                  <a:schemeClr val="bg1">
                    <a:lumMod val="65000"/>
                  </a:schemeClr>
                </a:solidFill>
                <a:latin typeface="Palatino Linotype" pitchFamily="18" charset="0"/>
              </a:rPr>
              <a:t>Next class: </a:t>
            </a:r>
            <a:r>
              <a:rPr lang="en-US" sz="2400" dirty="0" smtClean="0">
                <a:solidFill>
                  <a:schemeClr val="bg1">
                    <a:lumMod val="65000"/>
                  </a:schemeClr>
                </a:solidFill>
                <a:latin typeface="Palatino Linotype" pitchFamily="18" charset="0"/>
              </a:rPr>
              <a:t>Circuit analysis using with initial conditions</a:t>
            </a:r>
            <a:endParaRPr lang="en-IN" sz="1800" dirty="0">
              <a:solidFill>
                <a:schemeClr val="bg1">
                  <a:lumMod val="65000"/>
                </a:schemeClr>
              </a:solidFill>
              <a:latin typeface="Palatino Linotype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E86C-D0D3-4103-835D-50B6AFE43EA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817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5445224"/>
            <a:ext cx="8784976" cy="1143000"/>
          </a:xfrm>
        </p:spPr>
        <p:txBody>
          <a:bodyPr>
            <a:normAutofit/>
          </a:bodyPr>
          <a:lstStyle/>
          <a:p>
            <a:pPr algn="l"/>
            <a:r>
              <a:rPr lang="en-US" sz="3200" dirty="0" smtClean="0">
                <a:solidFill>
                  <a:schemeClr val="bg1">
                    <a:lumMod val="65000"/>
                  </a:schemeClr>
                </a:solidFill>
                <a:latin typeface="Palatino Linotype" pitchFamily="18" charset="0"/>
              </a:rPr>
              <a:t>Next class: </a:t>
            </a:r>
            <a:r>
              <a:rPr lang="en-US" sz="2400" dirty="0" smtClean="0">
                <a:solidFill>
                  <a:schemeClr val="bg1">
                    <a:lumMod val="65000"/>
                  </a:schemeClr>
                </a:solidFill>
                <a:latin typeface="Palatino Linotype" pitchFamily="18" charset="0"/>
              </a:rPr>
              <a:t>Circuit analysis using with initial conditions</a:t>
            </a:r>
            <a:endParaRPr lang="en-IN" sz="1800" dirty="0">
              <a:solidFill>
                <a:schemeClr val="bg1">
                  <a:lumMod val="65000"/>
                </a:schemeClr>
              </a:solidFill>
              <a:latin typeface="Palatino Linotype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E86C-D0D3-4103-835D-50B6AFE43EA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817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30338</TotalTime>
  <Words>310</Words>
  <Application>Microsoft Office PowerPoint</Application>
  <PresentationFormat>On-screen Show (4:3)</PresentationFormat>
  <Paragraphs>50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Module 4</vt:lpstr>
      <vt:lpstr>Circuit analysis using Laplace Transform</vt:lpstr>
      <vt:lpstr>Circuit analysis using Laplace Transform</vt:lpstr>
      <vt:lpstr>Circuit analysis using Laplace Transform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class: Circuit analysis using with initial conditions</vt:lpstr>
      <vt:lpstr>Next class: Circuit analysis using with initial conditions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247</cp:revision>
  <dcterms:created xsi:type="dcterms:W3CDTF">2025-07-09T09:36:32Z</dcterms:created>
  <dcterms:modified xsi:type="dcterms:W3CDTF">2025-09-29T11:15:44Z</dcterms:modified>
</cp:coreProperties>
</file>